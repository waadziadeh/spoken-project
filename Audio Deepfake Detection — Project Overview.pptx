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2672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08A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SPOKEN LANGUAGE PROCESSING · SUMMER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794050"/>
            <a:ext cx="915670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AF9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Audio Deepfake Detection Using Traditional Speech Features and Machine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9826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Waad Ziadeh · Warda Bairat · Rand Saleh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3179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Department of Electrical and Computer Engineering, Birzeit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981075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Synthetic speech is now hard to detect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45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 speech synthesis can sound convincingly real enough to impersonate real people — detection looks for the traces it still leaves behind.</a:t>
            </a:r>
            <a:endParaRPr lang="en-US" sz="1600" dirty="0"/>
          </a:p>
        </p:txBody>
      </p:sp>
      <p:pic>
        <p:nvPicPr>
          <p:cNvPr id="5" name="Image 0" descr="Mel-spectrograms of a real speech clip and an AI-generated speech clip side by side, showing very similar time-frequency structure">    </p:cNvPr>
          <p:cNvPicPr>
            <a:picLocks noChangeAspect="1"/>
          </p:cNvPicPr>
          <p:nvPr/>
        </p:nvPicPr>
        <p:blipFill>
          <a:blip r:embed="rId1"/>
          <a:srcRect l="-187" r="-187" t="0" b="0"/>
          <a:stretch/>
        </p:blipFill>
        <p:spPr>
          <a:xfrm>
            <a:off x="2387600" y="2619921"/>
            <a:ext cx="7416800" cy="3035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84425" y="2616746"/>
            <a:ext cx="7423150" cy="3041650"/>
          </a:xfrm>
          <a:prstGeom prst="rect">
            <a:avLst/>
          </a:prstGeom>
          <a:noFill/>
          <a:ln w="6350">
            <a:solidFill>
              <a:srgbClr val="E2DF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20157" y="5737771"/>
            <a:ext cx="489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vs. AI-generated speech — a genuinely similar acoustic signature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balanced dataset, one fixed split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92250"/>
            <a:ext cx="104648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ASVspoof 2021 Speech Deepfake (DF), Part00 — balanced to 11,070 clips: all 5,535 bonafide samples plus 5,535 randomly sampled spoof samples (seed 42).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689771"/>
          <a:ext cx="10566400" cy="2196703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  <a:gridCol w="264160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Split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Bonafide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Spoof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Training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3,874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3,875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7,749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Validation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1,660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Testing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1,661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9C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5,535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9C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5,535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9C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11,070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9C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12777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splits used across all three branches — identical clips in train/val/test for every method.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feature representations, evaluated the same 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70025"/>
            <a:ext cx="3380284" cy="3968800"/>
          </a:xfrm>
          <a:prstGeom prst="roundRect">
            <a:avLst>
              <a:gd name="adj" fmla="val 2912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2720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MFCC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442121"/>
            <a:ext cx="29519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MFCCs, mean + std pooled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2787551"/>
            <a:ext cx="29519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40-dim vector</a:t>
            </a:r>
            <a:endParaRPr lang="en-US" sz="1400" dirty="0"/>
          </a:p>
        </p:txBody>
      </p:sp>
      <p:pic>
        <p:nvPicPr>
          <p:cNvPr id="8" name="Image 0" descr="Cepstral coefficients pooled into a fixed-length vector">    </p:cNvPr>
          <p:cNvPicPr>
            <a:picLocks noChangeAspect="1"/>
          </p:cNvPicPr>
          <p:nvPr/>
        </p:nvPicPr>
        <p:blipFill>
          <a:blip r:embed="rId1"/>
          <a:srcRect l="-181" r="-181" t="0" b="0"/>
          <a:stretch/>
        </p:blipFill>
        <p:spPr>
          <a:xfrm>
            <a:off x="1236117" y="3728641"/>
            <a:ext cx="2540000" cy="876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3150" y="5297190"/>
            <a:ext cx="2951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RBF-SVM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5809" y="1870025"/>
            <a:ext cx="3380333" cy="3968800"/>
          </a:xfrm>
          <a:prstGeom prst="roundRect">
            <a:avLst>
              <a:gd name="adj" fmla="val 2912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2984" y="212720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LFCC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2984" y="2442121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LFCCs, mean + std pooled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62984" y="2787551"/>
            <a:ext cx="29519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26-dim vector</a:t>
            </a:r>
            <a:endParaRPr lang="en-US" sz="1400" dirty="0"/>
          </a:p>
        </p:txBody>
      </p:sp>
      <p:pic>
        <p:nvPicPr>
          <p:cNvPr id="14" name="Image 1" descr="Cepstral coefficients pooled into a fixed-length vector">    </p:cNvPr>
          <p:cNvPicPr>
            <a:picLocks noChangeAspect="1"/>
          </p:cNvPicPr>
          <p:nvPr/>
        </p:nvPicPr>
        <p:blipFill>
          <a:blip r:embed="rId2"/>
          <a:srcRect l="-181" r="-181" t="0" b="0"/>
          <a:stretch/>
        </p:blipFill>
        <p:spPr>
          <a:xfrm>
            <a:off x="4825950" y="3728641"/>
            <a:ext cx="2540000" cy="876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2984" y="5297190"/>
            <a:ext cx="29519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RBF-SVM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995692" y="1870025"/>
            <a:ext cx="3380333" cy="3968800"/>
          </a:xfrm>
          <a:prstGeom prst="roundRect">
            <a:avLst>
              <a:gd name="adj" fmla="val 2912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52867" y="212720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SPECTROGRAM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52867" y="2442121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128-mel log-spectrogram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252867" y="2787551"/>
            <a:ext cx="29519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128×126 matrix</a:t>
            </a:r>
            <a:endParaRPr lang="en-US" sz="1400" dirty="0"/>
          </a:p>
        </p:txBody>
      </p:sp>
      <p:pic>
        <p:nvPicPr>
          <p:cNvPr id="20" name="Image 2" descr="A time-frequency spectrogram feeding a stack of shrinking convolutional blocks">    </p:cNvPr>
          <p:cNvPicPr>
            <a:picLocks noChangeAspect="1"/>
          </p:cNvPicPr>
          <p:nvPr/>
        </p:nvPicPr>
        <p:blipFill>
          <a:blip r:embed="rId3"/>
          <a:srcRect l="-181" r="-181" t="0" b="0"/>
          <a:stretch/>
        </p:blipFill>
        <p:spPr>
          <a:xfrm>
            <a:off x="8415834" y="3728641"/>
            <a:ext cx="2540000" cy="8763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52867" y="5297190"/>
            <a:ext cx="29519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3-block CNN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12800" y="6238280"/>
            <a:ext cx="43597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train / validation / test split across all three branches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 1 — WAAD ZIADEH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MFCC + RBF-SVM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912120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MFCCs, mean + std pooled → 40-dim feature vector per clip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658840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RBF vs. linear kernel, tuned over C × γ (16 combinations)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405561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Best: RBF-SVM, C=10, γ=0.1 — selected on validation F1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05375" y="257745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7150" y="280923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94.64%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137150" y="341883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0075" y="257745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1850" y="280923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94.62%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1850" y="341883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5375" y="402267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7150" y="425445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98.90%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137150" y="486405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0075" y="402267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1850" y="425445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5.30%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51850" y="486405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 2 — WARDA BAIRAT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LFCC + RBF-SVM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912120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LFCCs, mean + std pooled → 26-dim feature vector per clip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658840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RBF vs. linear kernel search as the MFCC branch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405561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Best: RBF-SVM, C=10, γ=0.1 — selected on validation F1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05375" y="257745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7150" y="280923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86.57%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137150" y="341883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0075" y="257745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1850" y="280923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86.48%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1850" y="341883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5375" y="402267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7150" y="425445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93.93%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137150" y="486405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0075" y="402267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1850" y="425445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13.36%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51850" y="486405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 3 — RAND SALEH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Spectrogram + CNN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912120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128-mel log-spectrogram, 4s fixed length → 128×126 matrix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658840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3-block CNN (16 / 32 / 64 filters), 28,034 parameters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405561"/>
            <a:ext cx="379349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Lowest-val-loss checkpoint kept, not the final epoch's weights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05375" y="257745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7150" y="280923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84.53%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137150" y="341883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0075" y="257745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1850" y="280923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85.31%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1850" y="341883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5375" y="402267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7150" y="425445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92.50%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137150" y="486405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0075" y="4022675"/>
            <a:ext cx="3155950" cy="1286470"/>
          </a:xfrm>
          <a:prstGeom prst="roundRect">
            <a:avLst>
              <a:gd name="adj" fmla="val 7651"/>
            </a:avLst>
          </a:prstGeom>
          <a:solidFill>
            <a:srgbClr val="FDFCFA"/>
          </a:solidFill>
          <a:ln w="6350">
            <a:solidFill>
              <a:srgbClr val="E2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1850" y="4254450"/>
            <a:ext cx="277317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17.00%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51850" y="4864050"/>
            <a:ext cx="2773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COMPARATIVE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Comparing all three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43050"/>
          <a:ext cx="10566400" cy="1437283"/>
        </p:xfrm>
        <a:graphic>
          <a:graphicData uri="http://schemas.openxmlformats.org/drawingml/2006/table">
            <a:tbl>
              <a:tblPr/>
              <a:tblGrid>
                <a:gridCol w="1584960"/>
                <a:gridCol w="1373632"/>
                <a:gridCol w="1267968"/>
                <a:gridCol w="1267968"/>
                <a:gridCol w="1267968"/>
                <a:gridCol w="1267968"/>
                <a:gridCol w="1267968"/>
                <a:gridCol w="126796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Classifier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Accuracy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Precision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Recall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ROC-AUC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AF9F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MFCC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RBF-SVM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94.64%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94.91%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94.34%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94.62%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98.90%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5.30%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LFCC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RBF-SVM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86.57%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87.06%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85.90%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86.48%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93.93%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13.36%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Spectrogram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CNN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84.53%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81.18%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89.88%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85.31%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92.50%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3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17.00%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647033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MFCC-SVM leads on every metric. The CNN has the highest recall of the three, but the lowest precision and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E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3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the numbers don't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450"/>
            <a:ext cx="10464800" cy="221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ASVspoof2021 DF is released in multiple parts — we used Part00 only, so results are not directly comparable to published full-dataset benchmarks</a:t>
            </a:r>
            <a:endParaRPr lang="en-US" sz="1600" dirty="0"/>
          </a:p>
          <a:p>
            <a:pPr algn="l"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cross-dataset test on synthesis methods the models never saw during training</a:t>
            </a:r>
            <a:endParaRPr lang="en-US" sz="1600" dirty="0"/>
          </a:p>
          <a:p>
            <a:pPr algn="l"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MFCC/LFCC pooling keeps the coefficients' statistics but discards their timing</a:t>
            </a:r>
            <a:endParaRPr lang="en-US" sz="1600" dirty="0"/>
          </a:p>
          <a:p>
            <a:pPr algn="l" marL="342900" indent="-3429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5560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CNN varied 89.95% → 84.53% test accuracy across two identical runs — one run alone doesn't characterize it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15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08A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82540"/>
            <a:ext cx="981075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AF9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Traditional features still hold their own against a from-scratch CNN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489920"/>
            <a:ext cx="981075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4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 MFCC, LFCC, and spectrogram-based detection, a carefully tuned RBF-SVM on compact cepstral statistics outperformed a compact CNN trained directly on spectrograms — though the CNN's 89.88% recall shows raw time-frequency features still catch real signal, with far less tuning behind them.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65832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AF9F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Deepfake Detection — Project Overview</dc:title>
  <dc:subject>PptxGenJS Presentation</dc:subject>
  <dc:creator>PptxGenJS</dc:creator>
  <cp:lastModifiedBy>PptxGenJS</cp:lastModifiedBy>
  <cp:revision>1</cp:revision>
  <dcterms:created xsi:type="dcterms:W3CDTF">2026-09-19T14:13:28Z</dcterms:created>
  <dcterms:modified xsi:type="dcterms:W3CDTF">2026-09-19T14:13:28Z</dcterms:modified>
</cp:coreProperties>
</file>